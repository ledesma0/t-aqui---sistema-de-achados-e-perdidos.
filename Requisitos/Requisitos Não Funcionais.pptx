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3992D2-246E-45CF-B492-9A70851130D3}">
  <a:tblStyle styleId="{553992D2-246E-45CF-B492-9A70851130D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 flipH="1" rot="10800000">
            <a:off x="-719925" y="4514150"/>
            <a:ext cx="229800" cy="16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-683350" y="4821600"/>
            <a:ext cx="317400" cy="16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56" name="Google Shape;56;p13"/>
          <p:cNvGraphicFramePr/>
          <p:nvPr/>
        </p:nvGraphicFramePr>
        <p:xfrm>
          <a:off x="0" y="-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{553992D2-246E-45CF-B492-9A70851130D3}</a:tableStyleId>
              </a:tblPr>
              <a:tblGrid>
                <a:gridCol w="1966875"/>
                <a:gridCol w="889750"/>
                <a:gridCol w="6287375"/>
              </a:tblGrid>
              <a:tr h="591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Número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6D9EE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Criticidade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6D9EE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Descrição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6D9EEB"/>
                    </a:solidFill>
                  </a:tcPr>
                </a:tc>
              </a:tr>
              <a:tr h="591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R-01- Usabilidade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Alta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O sistema deve ter uma interface simples.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</a:tr>
              <a:tr h="661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R-02 - Desempenho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Média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As pesquisas devem ser processadas rapidamente.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</a:tr>
              <a:tr h="591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R-03 - Disponibilidade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Alta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O sistema deve estar disponível durante a maior parte do dia.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</a:tr>
              <a:tr h="591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R-04 - Segurança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Alta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O sistema deve garantir a segurança e confiabilidade dos dados.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</a:tr>
              <a:tr h="59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R-05 - Desempenho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Média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O sistema deve suportar o aumento da quantidade de usuários e publicações sem perda significativa de desempenho.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</a:tr>
              <a:tr h="591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R-06 - Backup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Alta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O sistema deve realizar backup diariamente.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R-07 - Manutenabilidade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Média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/>
                        <a:t>O sistema deve ser desenvolvido de forma a facilitar futuras manutenções e updates.</a:t>
                      </a:r>
                      <a:endParaRPr sz="1100"/>
                    </a:p>
                  </a:txBody>
                  <a:tcPr marT="63500" marB="63500" marR="63500" marL="63500">
                    <a:solidFill>
                      <a:srgbClr val="C9DAF8"/>
                    </a:solidFill>
                  </a:tcPr>
                </a:tc>
              </a:tr>
            </a:tbl>
          </a:graphicData>
        </a:graphic>
      </p:graphicFrame>
      <p:sp>
        <p:nvSpPr>
          <p:cNvPr id="57" name="Google Shape;57;p13"/>
          <p:cNvSpPr txBox="1"/>
          <p:nvPr/>
        </p:nvSpPr>
        <p:spPr>
          <a:xfrm flipH="1">
            <a:off x="-1112100" y="3136625"/>
            <a:ext cx="198900" cy="1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