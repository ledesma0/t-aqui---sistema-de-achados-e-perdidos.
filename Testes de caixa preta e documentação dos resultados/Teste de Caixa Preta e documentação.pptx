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F860E4-6BC5-4468-8E46-D35A5FDA7D8E}">
  <a:tblStyle styleId="{59F860E4-6BC5-4468-8E46-D35A5FDA7D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d952aeb1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d952aeb1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d952aeb1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d952aeb1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6" name="Google Shape;56;p13"/>
          <p:cNvGraphicFramePr/>
          <p:nvPr/>
        </p:nvGraphicFramePr>
        <p:xfrm>
          <a:off x="0" y="-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{59F860E4-6BC5-4468-8E46-D35A5FDA7D8E}</a:tableStyleId>
              </a:tblPr>
              <a:tblGrid>
                <a:gridCol w="1019250"/>
                <a:gridCol w="1994800"/>
                <a:gridCol w="1878275"/>
                <a:gridCol w="2562650"/>
                <a:gridCol w="1689025"/>
              </a:tblGrid>
              <a:tr h="332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Nº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Entrada de Texto / Ação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Resultado Esperado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Justificativa Técnica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Resultado Obtido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718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CP-01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Cadastro de novo usuário com matrícula e e-mail válidos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Conta criada com sucesso e acesso liberado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Valida o requisito </a:t>
                      </a:r>
                      <a:r>
                        <a:rPr b="1" lang="pt-BR" sz="1100"/>
                        <a:t>R-01 – Contas</a:t>
                      </a:r>
                      <a:r>
                        <a:rPr lang="pt-BR" sz="1100"/>
                        <a:t> com dados corretos.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⬛︎</a:t>
                      </a:r>
                      <a:r>
                        <a:rPr lang="pt-BR" sz="1100"/>
                        <a:t>  Aprovado 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☐ Reprovado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760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CP-02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Publicação de objeto perdido contendo foto, descrição, data, local e contato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Publicação cadastrada é exibida na plataforma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Valida os requisitos </a:t>
                      </a:r>
                      <a:r>
                        <a:rPr b="1" lang="pt-BR" sz="1100"/>
                        <a:t>Fotografia</a:t>
                      </a:r>
                      <a:r>
                        <a:rPr lang="pt-BR" sz="1100"/>
                        <a:t>, </a:t>
                      </a:r>
                      <a:r>
                        <a:rPr b="1" lang="pt-BR" sz="1100"/>
                        <a:t>Detalhamento</a:t>
                      </a:r>
                      <a:r>
                        <a:rPr lang="pt-BR" sz="1100"/>
                        <a:t>, </a:t>
                      </a:r>
                      <a:r>
                        <a:rPr b="1" lang="pt-BR" sz="1100"/>
                        <a:t>Contato</a:t>
                      </a:r>
                      <a:r>
                        <a:rPr lang="pt-BR" sz="1100"/>
                        <a:t> e </a:t>
                      </a:r>
                      <a:r>
                        <a:rPr b="1" lang="pt-BR" sz="1100"/>
                        <a:t>Data e Local</a:t>
                      </a:r>
                      <a:r>
                        <a:rPr lang="pt-BR" sz="1100"/>
                        <a:t>.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⬛︎</a:t>
                      </a:r>
                      <a:r>
                        <a:rPr lang="pt-BR" sz="1100"/>
                        <a:t> Aprovado</a:t>
                      </a:r>
                      <a:br>
                        <a:rPr lang="pt-BR" sz="1100"/>
                      </a:br>
                      <a:r>
                        <a:rPr lang="pt-BR" sz="1100"/>
                        <a:t>☐ Reprovado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73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CP-03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Pesquisa utilizando filtros de categoria "Eletrônicos" e local "Biblioteca"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Sistema retorna apenas publicações compatíveis com os filtros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Valida o requisito </a:t>
                      </a:r>
                      <a:r>
                        <a:rPr b="1" lang="pt-BR" sz="1100"/>
                        <a:t>R-05 – Busca Avançada</a:t>
                      </a:r>
                      <a:r>
                        <a:rPr lang="pt-BR" sz="1100"/>
                        <a:t> e a User Story de busca avançada.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⬛︎</a:t>
                      </a:r>
                      <a:r>
                        <a:rPr lang="pt-BR" sz="1100"/>
                        <a:t>  Aprovado </a:t>
                      </a:r>
                      <a:br>
                        <a:rPr lang="pt-BR" sz="1100"/>
                      </a:br>
                      <a:r>
                        <a:rPr lang="pt-BR" sz="1100"/>
                        <a:t>☐ Reprovado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55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CP-04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Administrador edita uma publicação existente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Alterações salvas e exibidas corretamente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Valida o requisito </a:t>
                      </a:r>
                      <a:r>
                        <a:rPr b="1" lang="pt-BR" sz="1100"/>
                        <a:t>R-06 – Administração</a:t>
                      </a:r>
                      <a:r>
                        <a:rPr lang="pt-BR" sz="1100"/>
                        <a:t>.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⬛︎</a:t>
                      </a:r>
                      <a:r>
                        <a:rPr lang="pt-BR" sz="1100"/>
                        <a:t>  Aprovado </a:t>
                      </a:r>
                      <a:br>
                        <a:rPr lang="pt-BR" sz="1100"/>
                      </a:br>
                      <a:r>
                        <a:rPr lang="pt-BR" sz="1100"/>
                        <a:t>☐ Reprovado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914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CP-05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Usuário tenta anexar um arquivo </a:t>
                      </a:r>
                      <a:r>
                        <a:rPr lang="pt-BR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.exe</a:t>
                      </a:r>
                      <a:r>
                        <a:rPr lang="pt-BR" sz="1100"/>
                        <a:t> em vez de uma imagem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Sistema exibe mensagem de erro e impede o upload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Teste de entrada inválida para o requisito </a:t>
                      </a:r>
                      <a:r>
                        <a:rPr b="1" lang="pt-BR" sz="1100"/>
                        <a:t>R-02 – Fotografia</a:t>
                      </a:r>
                      <a:r>
                        <a:rPr lang="pt-BR" sz="1100"/>
                        <a:t>. Garante que apenas formatos compatíveis sejam aceitos.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☐ Aprovado </a:t>
                      </a:r>
                      <a:br>
                        <a:rPr lang="pt-BR" sz="1100"/>
                      </a:br>
                      <a:r>
                        <a:rPr lang="pt-BR" sz="1200"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⬛︎</a:t>
                      </a:r>
                      <a:r>
                        <a:rPr lang="pt-BR" sz="1100"/>
                        <a:t>  Reprovado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113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CP-06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Usuário cola um texto no campo de detalhamento e o conteúdo é carregado com caracteres corrompidos (ex.: </a:t>
                      </a:r>
                      <a:r>
                        <a:rPr lang="pt-BR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Ã§Ã£o@#%</a:t>
                      </a:r>
                      <a:r>
                        <a:rPr lang="pt-BR" sz="1100"/>
                        <a:t>)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Sistema deve exibir o texto corretamente ou informar erro de codificação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Válida robustez do requisito </a:t>
                      </a:r>
                      <a:r>
                        <a:rPr b="1" lang="pt-BR" sz="1100"/>
                        <a:t>R-03 – Detalhamento</a:t>
                      </a:r>
                      <a:r>
                        <a:rPr lang="pt-BR" sz="1100"/>
                        <a:t> e tratamento de caracteres especiais.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☐ Aprovado </a:t>
                      </a:r>
                      <a:br>
                        <a:rPr lang="pt-BR" sz="1100"/>
                      </a:br>
                      <a:r>
                        <a:rPr lang="pt-BR" sz="1200"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⬛︎</a:t>
                      </a:r>
                      <a:r>
                        <a:rPr lang="pt-BR" sz="1100"/>
                        <a:t>  Reprovado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 rot="10800000">
            <a:off x="-1265500" y="-126900"/>
            <a:ext cx="109500" cy="1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 flipH="1" rot="10800000">
            <a:off x="-1265500" y="-126907"/>
            <a:ext cx="109500" cy="1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329250" y="402400"/>
            <a:ext cx="8077500" cy="26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</a:rPr>
              <a:t>Observações de Comportamento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</a:rPr>
              <a:t>CP-05 (Upload de arquivo inválido):</a:t>
            </a:r>
            <a:r>
              <a:rPr lang="pt-BR" sz="1500">
                <a:solidFill>
                  <a:schemeClr val="dk1"/>
                </a:solidFill>
              </a:rPr>
              <a:t> O sistema permitiu o upload de um arquivo com extensão </a:t>
            </a:r>
            <a:r>
              <a:rPr lang="pt-B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.exe</a:t>
            </a:r>
            <a:r>
              <a:rPr lang="pt-BR" sz="1500">
                <a:solidFill>
                  <a:schemeClr val="dk1"/>
                </a:solidFill>
              </a:rPr>
              <a:t> ou falhou em exibir a mensagem de erro adequada para barrar o arquivo, violando a regra de aceitar apenas formatos de imagem válidos.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</a:rPr>
              <a:t>CP-06 (Tratamento de caracteres especiais):</a:t>
            </a:r>
            <a:r>
              <a:rPr lang="pt-BR" sz="1500">
                <a:solidFill>
                  <a:schemeClr val="dk1"/>
                </a:solidFill>
              </a:rPr>
              <a:t> O sistema falhou ao processar o texto colado, corrompendo a codificação dos caracteres (exibindo </a:t>
            </a:r>
            <a:r>
              <a:rPr i="1" lang="pt-BR" sz="1500">
                <a:solidFill>
                  <a:schemeClr val="dk1"/>
                </a:solidFill>
              </a:rPr>
              <a:t>encoding</a:t>
            </a:r>
            <a:r>
              <a:rPr lang="pt-BR" sz="1500">
                <a:solidFill>
                  <a:schemeClr val="dk1"/>
                </a:solidFill>
              </a:rPr>
              <a:t> quebrado como </a:t>
            </a:r>
            <a:r>
              <a:rPr lang="pt-B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Ã§Ã£o@#%</a:t>
            </a:r>
            <a:r>
              <a:rPr lang="pt-BR" sz="1500">
                <a:solidFill>
                  <a:schemeClr val="dk1"/>
                </a:solidFill>
              </a:rPr>
              <a:t>) em vez de sanitizar/renderizar o texto corretamente ou validar a codificação.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 flipH="1" rot="10800000">
            <a:off x="-1254050" y="-117175"/>
            <a:ext cx="178500" cy="1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 flipH="1" rot="10800000">
            <a:off x="-1287050" y="-79375"/>
            <a:ext cx="244500" cy="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0" y="0"/>
            <a:ext cx="9028500" cy="41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</a:rPr>
              <a:t>Documentação de Bugs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</a:rPr>
              <a:t>[BUG-01] Upload de executável (.exe) permitido no campo de fotografia</a:t>
            </a:r>
            <a:br>
              <a:rPr lang="pt-BR" sz="1100">
                <a:solidFill>
                  <a:schemeClr val="dk1"/>
                </a:solidFill>
              </a:rPr>
            </a:br>
            <a:r>
              <a:rPr b="1" lang="pt-BR" sz="1200">
                <a:solidFill>
                  <a:schemeClr val="dk1"/>
                </a:solidFill>
              </a:rPr>
              <a:t>Caso de Teste Relacionado: CP-05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</a:rPr>
              <a:t>Gravidade:</a:t>
            </a:r>
            <a:r>
              <a:rPr lang="pt-BR" sz="1200">
                <a:solidFill>
                  <a:schemeClr val="dk1"/>
                </a:solidFill>
              </a:rPr>
              <a:t> Alta (Risco de Segurança)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</a:rPr>
              <a:t>Descrição:</a:t>
            </a:r>
            <a:r>
              <a:rPr lang="pt-BR" sz="1200">
                <a:solidFill>
                  <a:schemeClr val="dk1"/>
                </a:solidFill>
              </a:rPr>
              <a:t> Ao tentar anexar um arquivo de extensão .exe no campo para imagens do pertence perdido, o sistema não barrou o upload e exibiu a mensagem de erro esperada.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</a:rPr>
              <a:t>Impacto: </a:t>
            </a:r>
            <a:r>
              <a:rPr lang="pt-BR" sz="1200">
                <a:solidFill>
                  <a:schemeClr val="dk1"/>
                </a:solidFill>
              </a:rPr>
              <a:t>Permite que arquivos potencialmente perigosos sejam armazenados no servidor, comprometendo a integridade da plataforma e violando o requisito R-02.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</a:rPr>
              <a:t>[BUG-02] Quebra de codificação (</a:t>
            </a:r>
            <a:r>
              <a:rPr b="1" i="1" lang="pt-BR">
                <a:solidFill>
                  <a:schemeClr val="dk1"/>
                </a:solidFill>
              </a:rPr>
              <a:t>Encoding</a:t>
            </a:r>
            <a:r>
              <a:rPr b="1" lang="pt-BR">
                <a:solidFill>
                  <a:schemeClr val="dk1"/>
                </a:solidFill>
              </a:rPr>
              <a:t>) no campo de detalhamento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</a:rPr>
              <a:t>Caso de Teste Relacionado: CP-06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</a:rPr>
              <a:t>Gravidade: </a:t>
            </a:r>
            <a:r>
              <a:rPr lang="pt-BR" sz="1200">
                <a:solidFill>
                  <a:schemeClr val="dk1"/>
                </a:solidFill>
              </a:rPr>
              <a:t>Média</a:t>
            </a: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lang="pt-BR" sz="1200">
                <a:solidFill>
                  <a:schemeClr val="dk1"/>
                </a:solidFill>
              </a:rPr>
              <a:t>(Usabilidade e integridade dos dados)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</a:rPr>
              <a:t>Descrição:</a:t>
            </a:r>
            <a:r>
              <a:rPr lang="pt-BR" sz="1200">
                <a:solidFill>
                  <a:schemeClr val="dk1"/>
                </a:solidFill>
              </a:rPr>
              <a:t> Ao colocar ou inserir um texto com caracteres especiais (acentuação, cedilha, símbolos), o campo de detalhamento do objeto exibe o conteúdo corrompido, (EX: </a:t>
            </a:r>
            <a:r>
              <a:rPr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Ã§Ã£o@#%).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Impacto: Prejudica a leitura das descrições dos pertences perdidos, indicando falta de suporte a UTF-8 ou falha no tratamento de strings do requisito R-03.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5700" y="3841175"/>
            <a:ext cx="9072600" cy="1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</a:rPr>
              <a:t>Taxa de Sucesso dos Testes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Total de testes executados: 6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Testes aprovados: 4 (CP-01, CP-02, CP-03, CP-04)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Testes Reprovados: 2 (CP-05, CP-05)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</a:rPr>
              <a:t>Taxa de Sucesso = (4/6) x 100 = </a:t>
            </a: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≈66,67%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